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Plus Jakarta Sans"/>
      <p:regular r:id="rId27"/>
      <p:bold r:id="rId28"/>
      <p:italic r:id="rId29"/>
      <p:boldItalic r:id="rId30"/>
    </p:embeddedFont>
    <p:embeddedFont>
      <p:font typeface="Inter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422C933-D088-4045-BB7E-D09497AD831C}">
  <a:tblStyle styleId="{9422C933-D088-4045-BB7E-D09497AD831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PlusJakartaSans-bold.fntdata"/><Relationship Id="rId27" Type="http://schemas.openxmlformats.org/officeDocument/2006/relationships/font" Target="fonts/PlusJakartaSans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lusJakarta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regular.fntdata"/><Relationship Id="rId30" Type="http://schemas.openxmlformats.org/officeDocument/2006/relationships/font" Target="fonts/PlusJakartaSans-boldItalic.fntdata"/><Relationship Id="rId11" Type="http://schemas.openxmlformats.org/officeDocument/2006/relationships/slide" Target="slides/slide5.xml"/><Relationship Id="rId33" Type="http://schemas.openxmlformats.org/officeDocument/2006/relationships/font" Target="fonts/Inter-italic.fntdata"/><Relationship Id="rId10" Type="http://schemas.openxmlformats.org/officeDocument/2006/relationships/slide" Target="slides/slide4.xml"/><Relationship Id="rId32" Type="http://schemas.openxmlformats.org/officeDocument/2006/relationships/font" Target="fonts/Inter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34" Type="http://schemas.openxmlformats.org/officeDocument/2006/relationships/font" Target="fonts/Inter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Obiectivul a fost să construiesc un pipeline end-to-end: ingestie, transformare și răspuns la 3 întrebări analitice. Setul de date conține 6 fișiere IMDb — titluri, ratinguri, echipă de producție, distribuție, persoane și titluri alternative în diferite limbi.</a:t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Arhitectura urmează modelul medalion — Bronze, Silver, Gold. Bronze sunt datele brute încărcate în DuckDB neatinse. Silver este staging-ul și intermediate-ul din dbt — redenumiri, castări, reshaping. Gold sunt marts-urile — tabelele finale interogabile. Airflow orchestrează totul, DuckDB stochează local, dbt transformă.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Important: la fiecare trigger, fișierele Parquet din raw/ sunt șterse și recreat. Și tabelele din DuckDB sunt recreate cu CREATE OR REPLACE TABLE.</a:t>
            </a:r>
            <a:endParaRPr sz="1000">
              <a:solidFill>
                <a:srgbClr val="BFBFBF"/>
              </a:solidFill>
              <a:highlight>
                <a:srgbClr val="24252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 Pipeline-ul este idempotent — poți să îl rulezi de oricâte ori și obții același rezultat fără duplicate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35" name="Google Shape;13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863f0b6f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f863f0b6f5_0_4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f863f0b6f5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Trecem la data modeling. Am construit un star schema clasic. Tabela centrală este fct_title_ratings — un rând per titlu, care conține ratingul și numărul de voturi.</a:t>
            </a:r>
            <a:endParaRPr sz="1000">
              <a:solidFill>
                <a:srgbClr val="BFBFBF"/>
              </a:solidFill>
              <a:highlight>
                <a:srgbClr val="24252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 În jurul ei avem dimensiunile: dim_title cu informații despre titlu, dim_person cu actorii, regizorii și scriitorii, dim_genre cu genurile unice, și dim_year cu anii de lansare.</a:t>
            </a:r>
            <a:endParaRPr sz="1000">
              <a:solidFill>
                <a:srgbClr val="BFBFBF"/>
              </a:solidFill>
              <a:highlight>
                <a:srgbClr val="24252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 Avem și două bridge tables — bridge_title_genres și bridge_title_crew — care rezolvă relațiile many-to-many. Un film poate avea mai multe genuri, și o persoană poate contribui la mai multe filme. Și în final, am implementat și SCD Type 2 prin două snapshots dbt care păstrează istoricul modificărilor între load-uri.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85" name="Google Shape;185;g3f863f0b6f5_0_2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f863f0b6f5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f863f0b6f5_0_2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Testele de unique și not_null garantează că nu avem duplicate sau valori lipsă în dimensiuni.</a:t>
            </a:r>
            <a:endParaRPr sz="1000">
              <a:solidFill>
                <a:srgbClr val="BFBFBF"/>
              </a:solidFill>
              <a:highlight>
                <a:srgbClr val="24252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 Testele de relationships verifică că fiecare rating are un titlu valid în dim_title și că fiecare an există în dim_year. </a:t>
            </a:r>
            <a:endParaRPr sz="1000">
              <a:solidFill>
                <a:srgbClr val="BFBFBF"/>
              </a:solidFill>
              <a:highlight>
                <a:srgbClr val="24252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Testul test_rating_range este un test custom SQL care verifică că ratingul mediu este între 0 și 10</a:t>
            </a:r>
            <a:endParaRPr sz="1000">
              <a:solidFill>
                <a:srgbClr val="BFBFBF"/>
              </a:solidFill>
              <a:highlight>
                <a:srgbClr val="24252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 Ultimele două au severity warn — nu opresc pipeline-ul — pentru că reprezintă date murdare cunoscute la sursă: unii oameni din crew nu au profil în name.basics, și unele titluri au an de lansare în viitor pentru că IMDb include filme anunțate."</a:t>
            </a:r>
            <a:r>
              <a:rPr lang="en-US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199" name="Google Shape;19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863f0b6f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f863f0b6f5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863f0b6f5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863f0b6f5_0_1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f863f0b6f5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f863f0b6f5_0_1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863f0b6f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Al doilea extra: cum a evoluat ratingul mediu al unui gen în timp? Am ales Romance. </a:t>
            </a:r>
            <a:endParaRPr sz="1000">
              <a:solidFill>
                <a:srgbClr val="BFBFBF"/>
              </a:solidFill>
              <a:highlight>
                <a:srgbClr val="24252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Linia aurie arată ratingul, barele albastre arată volumul de titluri. </a:t>
            </a:r>
            <a:endParaRPr sz="1000">
              <a:solidFill>
                <a:srgbClr val="BFBFBF"/>
              </a:solidFill>
              <a:highlight>
                <a:srgbClr val="24252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BFBFBF"/>
                </a:solidFill>
                <a:highlight>
                  <a:srgbClr val="242526"/>
                </a:highlight>
              </a:rPr>
              <a:t>Observați un trend ascendent clar — de la 6.1 în 1956 la 7.52 în 2026. O posibilă explicație: streamingul și K-dramas au adus un public foarte activ și loial care votează masiv și consistent pozitiv. </a:t>
            </a:r>
            <a:endParaRPr/>
          </a:p>
        </p:txBody>
      </p:sp>
      <p:sp>
        <p:nvSpPr>
          <p:cNvPr id="363" name="Google Shape;363;g3f863f0b6f5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f863f0b6f5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f863f0b6f5_0_2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f863f0b6f5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g3f863f0b6f5_0_29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g3f863f0b6f5_0_3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g3f863f0b6f5_0_3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9" Type="http://schemas.openxmlformats.org/officeDocument/2006/relationships/hyperlink" Target="http://tsv.gz" TargetMode="External"/><Relationship Id="rId5" Type="http://schemas.openxmlformats.org/officeDocument/2006/relationships/image" Target="../media/image6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2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28.png"/><Relationship Id="rId5" Type="http://schemas.openxmlformats.org/officeDocument/2006/relationships/image" Target="../media/image25.png"/><Relationship Id="rId6" Type="http://schemas.openxmlformats.org/officeDocument/2006/relationships/image" Target="../media/image20.jpg"/><Relationship Id="rId7" Type="http://schemas.openxmlformats.org/officeDocument/2006/relationships/image" Target="../media/image2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5" y="-1190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924125" y="3021138"/>
            <a:ext cx="103437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IMDb Data Engineering Pipeline</a:t>
            </a:r>
            <a:r>
              <a:rPr lang="en-US" sz="53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endParaRPr sz="53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793777"/>
            <a:ext cx="762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472775" y="6105750"/>
            <a:ext cx="2487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Terchea Alexandra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596000" y="3836850"/>
            <a:ext cx="300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Levi9 Summer Practice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593174"/>
            <a:ext cx="5324474" cy="2866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593174"/>
            <a:ext cx="5324474" cy="28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Project &amp; Dataset Overview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95350" y="2810506"/>
            <a:ext cx="4930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095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Core Objective</a:t>
            </a:r>
            <a:endParaRPr sz="1800"/>
          </a:p>
        </p:txBody>
      </p:sp>
      <p:sp>
        <p:nvSpPr>
          <p:cNvPr id="98" name="Google Shape;98;p14"/>
          <p:cNvSpPr txBox="1"/>
          <p:nvPr/>
        </p:nvSpPr>
        <p:spPr>
          <a:xfrm>
            <a:off x="895350" y="3917156"/>
            <a:ext cx="4695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00825" y="2810506"/>
            <a:ext cx="4930500" cy="3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809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IMDb Source Dataset</a:t>
            </a:r>
            <a:endParaRPr sz="2050"/>
          </a:p>
        </p:txBody>
      </p:sp>
      <p:sp>
        <p:nvSpPr>
          <p:cNvPr id="100" name="Google Shape;100;p14"/>
          <p:cNvSpPr txBox="1"/>
          <p:nvPr/>
        </p:nvSpPr>
        <p:spPr>
          <a:xfrm>
            <a:off x="6600825" y="3288506"/>
            <a:ext cx="4695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Consists of</a:t>
            </a:r>
            <a:r>
              <a:rPr b="0" i="0" lang="en-US" sz="127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1275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6 complete TSV files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downloaded directly from official IMDb public releases.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00788" y="4051256"/>
            <a:ext cx="4695900" cy="4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Includes over </a:t>
            </a:r>
            <a:r>
              <a:rPr b="1" i="0" lang="en-US" sz="12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12.7 million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titles and </a:t>
            </a:r>
            <a:r>
              <a:rPr b="1" i="0" lang="en-US" sz="12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1.7 million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user rating records, updated on a weekly basis.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92775" y="3223100"/>
            <a:ext cx="4717500" cy="214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9563" lvl="0" marL="4572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75"/>
              <a:buFont typeface="Inter"/>
              <a:buChar char="●"/>
            </a:pPr>
            <a:r>
              <a:rPr lang="en-US" sz="12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Ingest 6 IMDb source files into a local DuckDB warehouse</a:t>
            </a:r>
            <a:endParaRPr sz="127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9563" lvl="0" marL="4572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75"/>
              <a:buFont typeface="Inter"/>
              <a:buChar char="●"/>
            </a:pPr>
            <a:r>
              <a:rPr lang="en-US" sz="12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Transform raw data into a queryable star schema using dbt</a:t>
            </a:r>
            <a:endParaRPr sz="127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9563" lvl="0" marL="4572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75"/>
              <a:buFont typeface="Inter"/>
              <a:buChar char="●"/>
            </a:pPr>
            <a:r>
              <a:rPr lang="en-US" sz="12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Orchestrate the full pipeline with Apache Airflow</a:t>
            </a:r>
            <a:endParaRPr sz="127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09563" lvl="0" marL="45720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275"/>
              <a:buFont typeface="Inter"/>
              <a:buChar char="●"/>
            </a:pPr>
            <a:r>
              <a:rPr lang="en-US" sz="12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Answer 3 analytical questions about movies, directors and genres</a:t>
            </a:r>
            <a:endParaRPr sz="1275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25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5"/>
          <p:cNvSpPr txBox="1"/>
          <p:nvPr/>
        </p:nvSpPr>
        <p:spPr>
          <a:xfrm>
            <a:off x="581025" y="485775"/>
            <a:ext cx="11581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Architecture Overview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580950" y="3409962"/>
            <a:ext cx="110301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1303933" y="33337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3203658" y="32575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5103383" y="32901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7003108" y="33337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8902833" y="33337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10802558" y="333376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0950" y="3761312"/>
            <a:ext cx="1535377" cy="8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71388" y="3803150"/>
            <a:ext cx="1354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IMDb Dumps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compressed TSV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31212" y="2251162"/>
            <a:ext cx="1535377" cy="82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30938" y="3761312"/>
            <a:ext cx="1535377" cy="82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0663" y="2251162"/>
            <a:ext cx="1535377" cy="82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0375" y="3803150"/>
            <a:ext cx="1535377" cy="822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75675" y="2251162"/>
            <a:ext cx="1535377" cy="8225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2499550" y="2385388"/>
            <a:ext cx="162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Apache Airflow orchestration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506888" y="3937388"/>
            <a:ext cx="1332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Parquet Files 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staging format 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489213" y="2385388"/>
            <a:ext cx="121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DuckDB 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dev.duckdb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6" name="Google Shape;126;p15"/>
          <p:cNvSpPr txBox="1"/>
          <p:nvPr/>
        </p:nvSpPr>
        <p:spPr>
          <a:xfrm>
            <a:off x="8149375" y="3937400"/>
            <a:ext cx="1697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dbt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models and tests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10176913" y="2292988"/>
            <a:ext cx="133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Output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answers and reports</a:t>
            </a:r>
            <a:endParaRPr b="1" sz="1200">
              <a:solidFill>
                <a:srgbClr val="38BDF8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817225" y="307372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trigger</a:t>
            </a:r>
            <a:endParaRPr b="1"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2748763" y="3073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convert</a:t>
            </a:r>
            <a:endParaRPr b="1"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4707525" y="3073725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load</a:t>
            </a:r>
            <a:endParaRPr b="1"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1" name="Google Shape;131;p15"/>
          <p:cNvSpPr txBox="1"/>
          <p:nvPr/>
        </p:nvSpPr>
        <p:spPr>
          <a:xfrm>
            <a:off x="6775663" y="3073713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-&gt;transform</a:t>
            </a:r>
            <a:endParaRPr b="1"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6775663" y="34099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lt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&lt;-write models</a:t>
            </a:r>
            <a:endParaRPr b="1" sz="1200">
              <a:solidFill>
                <a:schemeClr val="lt1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7" name="Google Shape;13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4062412"/>
            <a:ext cx="1985367" cy="1063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42170" y="2427237"/>
            <a:ext cx="1985367" cy="1063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3316" y="4062412"/>
            <a:ext cx="1985367" cy="1063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64462" y="2427237"/>
            <a:ext cx="1985367" cy="10636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25607" y="4062412"/>
            <a:ext cx="1985367" cy="90279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6"/>
          <p:cNvSpPr/>
          <p:nvPr/>
        </p:nvSpPr>
        <p:spPr>
          <a:xfrm>
            <a:off x="1478458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3739604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6000750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261895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0523041" y="3681412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0F172A"/>
          </a:solidFill>
          <a:ln cap="flat" cmpd="sng" w="3810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581025" y="485775"/>
            <a:ext cx="11581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DAG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81025" y="3757612"/>
            <a:ext cx="110301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701412" y="4224337"/>
            <a:ext cx="1744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Extract to Parquet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42950" y="4481512"/>
            <a:ext cx="1661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Reads </a:t>
            </a:r>
            <a:r>
              <a:rPr lang="en-US" sz="975" u="sng">
                <a:solidFill>
                  <a:schemeClr val="hlink"/>
                </a:solidFill>
                <a:latin typeface="Inter"/>
                <a:ea typeface="Inter"/>
                <a:cs typeface="Inter"/>
                <a:sym typeface="Inter"/>
                <a:hlinkClick r:id="rId9"/>
              </a:rPr>
              <a:t>TSV.gz</a:t>
            </a:r>
            <a:r>
              <a:rPr lang="en-US" sz="9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files in chunks, writes Parquet to raw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2962557" y="2589162"/>
            <a:ext cx="1744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Load to DuckDB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3004095" y="2846337"/>
            <a:ext cx="1661400" cy="5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Loads each Parquet file into DuckDB using CREATE OR REPLACE TABLE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223703" y="4224337"/>
            <a:ext cx="1744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Validate Load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265241" y="4481512"/>
            <a:ext cx="1661400" cy="34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Fails fast if any table is empty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7484849" y="2589162"/>
            <a:ext cx="1744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4. Run dbt Models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7526387" y="2846337"/>
            <a:ext cx="1661400" cy="48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Build Staging, Intermediate, and Mart models (Star Schema).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9745994" y="4224337"/>
            <a:ext cx="17445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5. Test dbt Models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787532" y="4481512"/>
            <a:ext cx="16614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Execute data quality checks to validate final tables.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581025" y="485775"/>
            <a:ext cx="11581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DAG</a:t>
            </a:r>
            <a:endParaRPr/>
          </a:p>
        </p:txBody>
      </p:sp>
      <p:pic>
        <p:nvPicPr>
          <p:cNvPr id="166" name="Google Shape;166;p17" title="Screenshot 2026-08-25 19061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844583"/>
            <a:ext cx="12192000" cy="15894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40768"/>
            <a:ext cx="3524250" cy="2871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33875" y="2340768"/>
            <a:ext cx="3524250" cy="2871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86725" y="2340768"/>
            <a:ext cx="3524250" cy="2871787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Modeling: Star Schema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57250" y="2711893"/>
            <a:ext cx="3120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Fact Table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57250" y="3470056"/>
            <a:ext cx="29718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fct_title_ratings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One row per title. Stores the rating and vote count for every movie or show. 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4535800" y="2718193"/>
            <a:ext cx="3120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Dimensions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4610100" y="3404243"/>
            <a:ext cx="2971800" cy="8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dim_title, dim_person, dim_genre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Store descriptive attributes for movies, actors, directors, genres, and release calendar years.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288650" y="2669443"/>
            <a:ext cx="31203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Bridges &amp; Snapshots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288650" y="3237818"/>
            <a:ext cx="29718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6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bridge_title_crew / genres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2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Link titles to genres and people(many-to-many relationships)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274550" y="4083250"/>
            <a:ext cx="3000000" cy="10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62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snp_title_basics, snp_title_rating</a:t>
            </a:r>
            <a:b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75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SCD type 2. Preserve histroy when IMDb updates metadata or ratings between weekly loads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9"/>
          <p:cNvSpPr txBox="1"/>
          <p:nvPr/>
        </p:nvSpPr>
        <p:spPr>
          <a:xfrm>
            <a:off x="581025" y="485775"/>
            <a:ext cx="11581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Modeling: Star Schema</a:t>
            </a:r>
            <a:endParaRPr/>
          </a:p>
        </p:txBody>
      </p:sp>
      <p:pic>
        <p:nvPicPr>
          <p:cNvPr id="189" name="Google Shape;189;p19" title="Untitled__1_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31" y="1562106"/>
            <a:ext cx="10870400" cy="437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 txBox="1"/>
          <p:nvPr/>
        </p:nvSpPr>
        <p:spPr>
          <a:xfrm>
            <a:off x="581025" y="485775"/>
            <a:ext cx="11581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Transformation and dbt Lineage</a:t>
            </a:r>
            <a:endParaRPr/>
          </a:p>
        </p:txBody>
      </p:sp>
      <p:pic>
        <p:nvPicPr>
          <p:cNvPr id="196" name="Google Shape;196;p20" title="Screenshot 2026-08-25 1832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25" y="1038999"/>
            <a:ext cx="10577649" cy="551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1" name="Google Shape;20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 Quality &amp; dbt Testing</a:t>
            </a:r>
            <a:endParaRPr/>
          </a:p>
        </p:txBody>
      </p:sp>
      <p:graphicFrame>
        <p:nvGraphicFramePr>
          <p:cNvPr id="203" name="Google Shape;203;p21"/>
          <p:cNvGraphicFramePr/>
          <p:nvPr/>
        </p:nvGraphicFramePr>
        <p:xfrm>
          <a:off x="581025" y="24860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{9422C933-D088-4045-BB7E-D09497AD831C}</a:tableStyleId>
              </a:tblPr>
              <a:tblGrid>
                <a:gridCol w="2103675"/>
                <a:gridCol w="1985675"/>
                <a:gridCol w="6940600"/>
              </a:tblGrid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Target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Test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Business Objective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dim_title / dim_person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Unique &amp; Not Null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Guarantees that every movie and person has a valid, non-duplicate primary key.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fct_title_ratings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Relationships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Ensures foreign keys reference valid titles in the dimension table.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fct_title_ratings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test_rating_range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>
                          <a:latin typeface="Inter"/>
                          <a:ea typeface="Inter"/>
                          <a:cs typeface="Inter"/>
                          <a:sym typeface="Inter"/>
                        </a:rPr>
                        <a:t>Average rating must be between 0 and 10; start_year must not be in the future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1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bridge_title_crew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75" u="none" cap="none" strike="noStrike">
                          <a:latin typeface="Inter"/>
                          <a:ea typeface="Inter"/>
                          <a:cs typeface="Inter"/>
                          <a:sym typeface="Inter"/>
                        </a:rPr>
                        <a:t>Relationships (Warn)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75">
                          <a:latin typeface="Inter"/>
                          <a:ea typeface="Inter"/>
                          <a:cs typeface="Inter"/>
                          <a:sym typeface="Inter"/>
                        </a:rPr>
                        <a:t>Some crew members have no profile in name.basics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" name="Google Shape;204;p21"/>
          <p:cNvSpPr/>
          <p:nvPr/>
        </p:nvSpPr>
        <p:spPr>
          <a:xfrm>
            <a:off x="581025" y="2976562"/>
            <a:ext cx="21036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2684710" y="2976562"/>
            <a:ext cx="19856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4670375" y="2976562"/>
            <a:ext cx="69405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581025" y="3495675"/>
            <a:ext cx="21036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2684710" y="3495675"/>
            <a:ext cx="19856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4670375" y="3495675"/>
            <a:ext cx="69405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581025" y="4014787"/>
            <a:ext cx="21036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2684710" y="4014787"/>
            <a:ext cx="19856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4670375" y="4014787"/>
            <a:ext cx="69405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81025" y="4533900"/>
            <a:ext cx="21036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2684710" y="4533900"/>
            <a:ext cx="19856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4670375" y="4533900"/>
            <a:ext cx="69405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/>
          <p:nvPr/>
        </p:nvSpPr>
        <p:spPr>
          <a:xfrm>
            <a:off x="581025" y="5053012"/>
            <a:ext cx="210368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1"/>
          <p:cNvSpPr/>
          <p:nvPr/>
        </p:nvSpPr>
        <p:spPr>
          <a:xfrm>
            <a:off x="2684710" y="5053012"/>
            <a:ext cx="19856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/>
          <p:nvPr/>
        </p:nvSpPr>
        <p:spPr>
          <a:xfrm>
            <a:off x="4670375" y="5053012"/>
            <a:ext cx="694059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2"/>
          <p:cNvSpPr txBox="1"/>
          <p:nvPr/>
        </p:nvSpPr>
        <p:spPr>
          <a:xfrm>
            <a:off x="581025" y="485775"/>
            <a:ext cx="11581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Q1: Who are the top 10 directors by average rating, restricted to those with 5+ titles and 1,000+ combined votes? 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81025" y="2009775"/>
            <a:ext cx="11029950" cy="242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Filter applied: Directors with </a:t>
            </a:r>
            <a:r>
              <a:rPr b="1" i="0" lang="en-US" sz="12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at least 5 titles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a minimum of </a:t>
            </a:r>
            <a:r>
              <a:rPr b="1" i="0" lang="en-US" sz="127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1,000 total votes</a:t>
            </a:r>
            <a:r>
              <a:rPr b="0" i="0" lang="en-US" sz="12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26" name="Google Shape;226;p22"/>
          <p:cNvSpPr/>
          <p:nvPr/>
        </p:nvSpPr>
        <p:spPr>
          <a:xfrm>
            <a:off x="581025" y="2933700"/>
            <a:ext cx="36479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2"/>
          <p:cNvSpPr/>
          <p:nvPr/>
        </p:nvSpPr>
        <p:spPr>
          <a:xfrm>
            <a:off x="4228951" y="2933700"/>
            <a:ext cx="174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2"/>
          <p:cNvSpPr/>
          <p:nvPr/>
        </p:nvSpPr>
        <p:spPr>
          <a:xfrm>
            <a:off x="5974258" y="2933700"/>
            <a:ext cx="28182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2"/>
          <p:cNvSpPr/>
          <p:nvPr/>
        </p:nvSpPr>
        <p:spPr>
          <a:xfrm>
            <a:off x="8792467" y="2933700"/>
            <a:ext cx="2818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/>
          <p:nvPr/>
        </p:nvSpPr>
        <p:spPr>
          <a:xfrm>
            <a:off x="581025" y="3452812"/>
            <a:ext cx="36479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2"/>
          <p:cNvSpPr/>
          <p:nvPr/>
        </p:nvSpPr>
        <p:spPr>
          <a:xfrm>
            <a:off x="4228951" y="3452812"/>
            <a:ext cx="174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2"/>
          <p:cNvSpPr/>
          <p:nvPr/>
        </p:nvSpPr>
        <p:spPr>
          <a:xfrm>
            <a:off x="5974258" y="3452812"/>
            <a:ext cx="28182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8792467" y="3452812"/>
            <a:ext cx="2818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/>
          <p:nvPr/>
        </p:nvSpPr>
        <p:spPr>
          <a:xfrm>
            <a:off x="581025" y="3971925"/>
            <a:ext cx="36479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2"/>
          <p:cNvSpPr/>
          <p:nvPr/>
        </p:nvSpPr>
        <p:spPr>
          <a:xfrm>
            <a:off x="4228951" y="3971925"/>
            <a:ext cx="174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2"/>
          <p:cNvSpPr/>
          <p:nvPr/>
        </p:nvSpPr>
        <p:spPr>
          <a:xfrm>
            <a:off x="5974258" y="3971925"/>
            <a:ext cx="28182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/>
          <p:nvPr/>
        </p:nvSpPr>
        <p:spPr>
          <a:xfrm>
            <a:off x="8792467" y="3971925"/>
            <a:ext cx="2818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/>
          <p:nvPr/>
        </p:nvSpPr>
        <p:spPr>
          <a:xfrm>
            <a:off x="581025" y="4491037"/>
            <a:ext cx="36479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4228951" y="4491037"/>
            <a:ext cx="174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5974258" y="4491037"/>
            <a:ext cx="28182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8792467" y="4491037"/>
            <a:ext cx="2818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581025" y="5010150"/>
            <a:ext cx="36479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4228951" y="5010150"/>
            <a:ext cx="174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5974258" y="5010150"/>
            <a:ext cx="28182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8792467" y="5010150"/>
            <a:ext cx="2818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581025" y="5529262"/>
            <a:ext cx="364792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4228951" y="5529262"/>
            <a:ext cx="17453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5974258" y="5529262"/>
            <a:ext cx="28182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8792467" y="5529262"/>
            <a:ext cx="2818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22" title="Screenshot 2026-08-25 20411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88488" y="2330725"/>
            <a:ext cx="8853574" cy="40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3"/>
          <p:cNvSpPr txBox="1"/>
          <p:nvPr/>
        </p:nvSpPr>
        <p:spPr>
          <a:xfrm>
            <a:off x="581025" y="485775"/>
            <a:ext cx="11581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Q2: </a:t>
            </a: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Has the average movie runtime changed by decade, and does runtime correlate with rating? 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581025" y="293370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4228951" y="293370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5974258" y="293370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8792467" y="293370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581025" y="345281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4228951" y="345281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5974258" y="345281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8792467" y="345281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581025" y="3971925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4228951" y="3971925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5974258" y="3971925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8792467" y="3971925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581025" y="4491037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4228951" y="4491037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5974258" y="4491037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8792467" y="4491037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581025" y="501015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4228951" y="501015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5974258" y="501015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8792467" y="501015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581025" y="552926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4228951" y="552926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/>
          <p:nvPr/>
        </p:nvSpPr>
        <p:spPr>
          <a:xfrm>
            <a:off x="5974258" y="552926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8792467" y="552926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1" name="Google Shape;281;p23" title="Screenshot 2026-08-25 2123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7900" y="1706328"/>
            <a:ext cx="5220899" cy="4842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 title="Screenshot 2026-08-25 205103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0690" y="1706325"/>
            <a:ext cx="5181284" cy="484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81100"/>
            <a:ext cx="1102995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 txBox="1"/>
          <p:nvPr/>
        </p:nvSpPr>
        <p:spPr>
          <a:xfrm>
            <a:off x="305250" y="485775"/>
            <a:ext cx="11581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Q2: Has the average movie runtime changed by decade, and does runtime correlate with rating?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F8FAF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290" name="Google Shape;290;p24"/>
          <p:cNvSpPr txBox="1"/>
          <p:nvPr/>
        </p:nvSpPr>
        <p:spPr>
          <a:xfrm>
            <a:off x="423500" y="5247525"/>
            <a:ext cx="11896500" cy="2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7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Average movie duration has grown steadily over time while maintaining a stable average rating (~6.1 - 6.3)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5"/>
          <p:cNvSpPr txBox="1"/>
          <p:nvPr/>
        </p:nvSpPr>
        <p:spPr>
          <a:xfrm>
            <a:off x="581025" y="485775"/>
            <a:ext cx="11581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Q3: </a:t>
            </a: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Which genres have the highest ratio of “hidden gems” (high rating, low vote count) versus “overrated” titles (low rating, high vote count)? </a:t>
            </a:r>
            <a:endParaRPr/>
          </a:p>
        </p:txBody>
      </p:sp>
      <p:sp>
        <p:nvSpPr>
          <p:cNvPr id="297" name="Google Shape;297;p25"/>
          <p:cNvSpPr/>
          <p:nvPr/>
        </p:nvSpPr>
        <p:spPr>
          <a:xfrm>
            <a:off x="581025" y="293370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4228951" y="293370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974258" y="293370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5"/>
          <p:cNvSpPr/>
          <p:nvPr/>
        </p:nvSpPr>
        <p:spPr>
          <a:xfrm>
            <a:off x="8792467" y="293370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5"/>
          <p:cNvSpPr/>
          <p:nvPr/>
        </p:nvSpPr>
        <p:spPr>
          <a:xfrm>
            <a:off x="581025" y="345281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5"/>
          <p:cNvSpPr/>
          <p:nvPr/>
        </p:nvSpPr>
        <p:spPr>
          <a:xfrm>
            <a:off x="4228951" y="345281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5"/>
          <p:cNvSpPr/>
          <p:nvPr/>
        </p:nvSpPr>
        <p:spPr>
          <a:xfrm>
            <a:off x="5974258" y="345281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/>
          <p:nvPr/>
        </p:nvSpPr>
        <p:spPr>
          <a:xfrm>
            <a:off x="8792467" y="345281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5"/>
          <p:cNvSpPr/>
          <p:nvPr/>
        </p:nvSpPr>
        <p:spPr>
          <a:xfrm>
            <a:off x="581025" y="3971925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5"/>
          <p:cNvSpPr/>
          <p:nvPr/>
        </p:nvSpPr>
        <p:spPr>
          <a:xfrm>
            <a:off x="4228951" y="3971925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5"/>
          <p:cNvSpPr/>
          <p:nvPr/>
        </p:nvSpPr>
        <p:spPr>
          <a:xfrm>
            <a:off x="5974258" y="3971925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5"/>
          <p:cNvSpPr/>
          <p:nvPr/>
        </p:nvSpPr>
        <p:spPr>
          <a:xfrm>
            <a:off x="8792467" y="3971925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5"/>
          <p:cNvSpPr/>
          <p:nvPr/>
        </p:nvSpPr>
        <p:spPr>
          <a:xfrm>
            <a:off x="581025" y="4491037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5"/>
          <p:cNvSpPr/>
          <p:nvPr/>
        </p:nvSpPr>
        <p:spPr>
          <a:xfrm>
            <a:off x="4228951" y="4491037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5"/>
          <p:cNvSpPr/>
          <p:nvPr/>
        </p:nvSpPr>
        <p:spPr>
          <a:xfrm>
            <a:off x="5974258" y="4491037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5"/>
          <p:cNvSpPr/>
          <p:nvPr/>
        </p:nvSpPr>
        <p:spPr>
          <a:xfrm>
            <a:off x="8792467" y="4491037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5"/>
          <p:cNvSpPr/>
          <p:nvPr/>
        </p:nvSpPr>
        <p:spPr>
          <a:xfrm>
            <a:off x="581025" y="501015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5"/>
          <p:cNvSpPr/>
          <p:nvPr/>
        </p:nvSpPr>
        <p:spPr>
          <a:xfrm>
            <a:off x="4228951" y="501015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5"/>
          <p:cNvSpPr/>
          <p:nvPr/>
        </p:nvSpPr>
        <p:spPr>
          <a:xfrm>
            <a:off x="5974258" y="501015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25"/>
          <p:cNvSpPr/>
          <p:nvPr/>
        </p:nvSpPr>
        <p:spPr>
          <a:xfrm>
            <a:off x="8792467" y="501015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25"/>
          <p:cNvSpPr/>
          <p:nvPr/>
        </p:nvSpPr>
        <p:spPr>
          <a:xfrm>
            <a:off x="581025" y="552926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5"/>
          <p:cNvSpPr/>
          <p:nvPr/>
        </p:nvSpPr>
        <p:spPr>
          <a:xfrm>
            <a:off x="4228951" y="552926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/>
          <p:nvPr/>
        </p:nvSpPr>
        <p:spPr>
          <a:xfrm>
            <a:off x="5974258" y="552926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5"/>
          <p:cNvSpPr/>
          <p:nvPr/>
        </p:nvSpPr>
        <p:spPr>
          <a:xfrm>
            <a:off x="8792467" y="552926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1" name="Google Shape;321;p25" title="Screenshot 2026-08-25 2107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8625" y="1541125"/>
            <a:ext cx="9755576" cy="487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6" name="Google Shape;32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181100"/>
            <a:ext cx="11029950" cy="5191125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26"/>
          <p:cNvSpPr txBox="1"/>
          <p:nvPr/>
        </p:nvSpPr>
        <p:spPr>
          <a:xfrm>
            <a:off x="516925" y="410075"/>
            <a:ext cx="11581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Q3: Which genres have the highest ratio of “hidden gems” (high rating, low vote count) versus “overrated” titles (low rating, high vote count)?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550">
              <a:solidFill>
                <a:srgbClr val="F8FAFC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29" name="Google Shape;329;p26"/>
          <p:cNvSpPr txBox="1"/>
          <p:nvPr/>
        </p:nvSpPr>
        <p:spPr>
          <a:xfrm>
            <a:off x="581025" y="5098256"/>
            <a:ext cx="110301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Hidden Gem: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Rating ≥ 7.5 with fewer than 1,000 user votes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4" name="Google Shape;33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27"/>
          <p:cNvSpPr txBox="1"/>
          <p:nvPr/>
        </p:nvSpPr>
        <p:spPr>
          <a:xfrm>
            <a:off x="581025" y="485775"/>
            <a:ext cx="11581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Extra: Are people who both direct and act better at one role than the other?</a:t>
            </a:r>
            <a:endParaRPr/>
          </a:p>
        </p:txBody>
      </p:sp>
      <p:sp>
        <p:nvSpPr>
          <p:cNvPr id="336" name="Google Shape;336;p27"/>
          <p:cNvSpPr/>
          <p:nvPr/>
        </p:nvSpPr>
        <p:spPr>
          <a:xfrm>
            <a:off x="581025" y="293370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7"/>
          <p:cNvSpPr/>
          <p:nvPr/>
        </p:nvSpPr>
        <p:spPr>
          <a:xfrm>
            <a:off x="4228951" y="293370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7"/>
          <p:cNvSpPr/>
          <p:nvPr/>
        </p:nvSpPr>
        <p:spPr>
          <a:xfrm>
            <a:off x="5974258" y="293370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7"/>
          <p:cNvSpPr/>
          <p:nvPr/>
        </p:nvSpPr>
        <p:spPr>
          <a:xfrm>
            <a:off x="8792467" y="293370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7"/>
          <p:cNvSpPr/>
          <p:nvPr/>
        </p:nvSpPr>
        <p:spPr>
          <a:xfrm>
            <a:off x="581025" y="345281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7"/>
          <p:cNvSpPr/>
          <p:nvPr/>
        </p:nvSpPr>
        <p:spPr>
          <a:xfrm>
            <a:off x="4228951" y="345281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7"/>
          <p:cNvSpPr/>
          <p:nvPr/>
        </p:nvSpPr>
        <p:spPr>
          <a:xfrm>
            <a:off x="5974258" y="345281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7"/>
          <p:cNvSpPr/>
          <p:nvPr/>
        </p:nvSpPr>
        <p:spPr>
          <a:xfrm>
            <a:off x="8792467" y="345281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7"/>
          <p:cNvSpPr/>
          <p:nvPr/>
        </p:nvSpPr>
        <p:spPr>
          <a:xfrm>
            <a:off x="581025" y="3971925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7"/>
          <p:cNvSpPr/>
          <p:nvPr/>
        </p:nvSpPr>
        <p:spPr>
          <a:xfrm>
            <a:off x="4228951" y="3971925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5974258" y="3971925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/>
          <p:nvPr/>
        </p:nvSpPr>
        <p:spPr>
          <a:xfrm>
            <a:off x="8792467" y="3971925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7"/>
          <p:cNvSpPr/>
          <p:nvPr/>
        </p:nvSpPr>
        <p:spPr>
          <a:xfrm>
            <a:off x="581025" y="4491037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7"/>
          <p:cNvSpPr/>
          <p:nvPr/>
        </p:nvSpPr>
        <p:spPr>
          <a:xfrm>
            <a:off x="4228951" y="4491037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/>
          <p:nvPr/>
        </p:nvSpPr>
        <p:spPr>
          <a:xfrm>
            <a:off x="5974258" y="4491037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/>
          <p:nvPr/>
        </p:nvSpPr>
        <p:spPr>
          <a:xfrm>
            <a:off x="8792467" y="4491037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581025" y="501015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7"/>
          <p:cNvSpPr/>
          <p:nvPr/>
        </p:nvSpPr>
        <p:spPr>
          <a:xfrm>
            <a:off x="4228951" y="501015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7"/>
          <p:cNvSpPr/>
          <p:nvPr/>
        </p:nvSpPr>
        <p:spPr>
          <a:xfrm>
            <a:off x="5974258" y="501015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7"/>
          <p:cNvSpPr/>
          <p:nvPr/>
        </p:nvSpPr>
        <p:spPr>
          <a:xfrm>
            <a:off x="8792467" y="501015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7"/>
          <p:cNvSpPr/>
          <p:nvPr/>
        </p:nvSpPr>
        <p:spPr>
          <a:xfrm>
            <a:off x="581025" y="552926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7"/>
          <p:cNvSpPr/>
          <p:nvPr/>
        </p:nvSpPr>
        <p:spPr>
          <a:xfrm>
            <a:off x="4228951" y="552926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7"/>
          <p:cNvSpPr/>
          <p:nvPr/>
        </p:nvSpPr>
        <p:spPr>
          <a:xfrm>
            <a:off x="5974258" y="552926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7"/>
          <p:cNvSpPr/>
          <p:nvPr/>
        </p:nvSpPr>
        <p:spPr>
          <a:xfrm>
            <a:off x="8792467" y="552926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0" name="Google Shape;360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0513" y="1270875"/>
            <a:ext cx="7507159" cy="558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5" name="Google Shape;36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28"/>
          <p:cNvSpPr txBox="1"/>
          <p:nvPr/>
        </p:nvSpPr>
        <p:spPr>
          <a:xfrm>
            <a:off x="581025" y="485775"/>
            <a:ext cx="115815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Extra:How has the average rating per genre evolved from 1950 to today?</a:t>
            </a:r>
            <a:endParaRPr/>
          </a:p>
        </p:txBody>
      </p:sp>
      <p:sp>
        <p:nvSpPr>
          <p:cNvPr id="367" name="Google Shape;367;p28"/>
          <p:cNvSpPr/>
          <p:nvPr/>
        </p:nvSpPr>
        <p:spPr>
          <a:xfrm>
            <a:off x="581025" y="293370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4228951" y="293370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5974258" y="293370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/>
          <p:nvPr/>
        </p:nvSpPr>
        <p:spPr>
          <a:xfrm>
            <a:off x="8792467" y="293370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8"/>
          <p:cNvSpPr/>
          <p:nvPr/>
        </p:nvSpPr>
        <p:spPr>
          <a:xfrm>
            <a:off x="581025" y="345281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4228951" y="345281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5974258" y="345281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/>
          <p:nvPr/>
        </p:nvSpPr>
        <p:spPr>
          <a:xfrm>
            <a:off x="8792467" y="345281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8"/>
          <p:cNvSpPr/>
          <p:nvPr/>
        </p:nvSpPr>
        <p:spPr>
          <a:xfrm>
            <a:off x="581025" y="3971925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4228951" y="3971925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5974258" y="3971925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/>
          <p:nvPr/>
        </p:nvSpPr>
        <p:spPr>
          <a:xfrm>
            <a:off x="8792467" y="3971925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8"/>
          <p:cNvSpPr/>
          <p:nvPr/>
        </p:nvSpPr>
        <p:spPr>
          <a:xfrm>
            <a:off x="581025" y="4491037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4228951" y="4491037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5974258" y="4491037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/>
          <p:nvPr/>
        </p:nvSpPr>
        <p:spPr>
          <a:xfrm>
            <a:off x="8792467" y="4491037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8"/>
          <p:cNvSpPr/>
          <p:nvPr/>
        </p:nvSpPr>
        <p:spPr>
          <a:xfrm>
            <a:off x="581025" y="501015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8"/>
          <p:cNvSpPr/>
          <p:nvPr/>
        </p:nvSpPr>
        <p:spPr>
          <a:xfrm>
            <a:off x="4228951" y="501015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8"/>
          <p:cNvSpPr/>
          <p:nvPr/>
        </p:nvSpPr>
        <p:spPr>
          <a:xfrm>
            <a:off x="5974258" y="501015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8"/>
          <p:cNvSpPr/>
          <p:nvPr/>
        </p:nvSpPr>
        <p:spPr>
          <a:xfrm>
            <a:off x="8792467" y="501015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8"/>
          <p:cNvSpPr/>
          <p:nvPr/>
        </p:nvSpPr>
        <p:spPr>
          <a:xfrm>
            <a:off x="581025" y="552926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4228951" y="552926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/>
          <p:nvPr/>
        </p:nvSpPr>
        <p:spPr>
          <a:xfrm>
            <a:off x="5974258" y="552926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8"/>
          <p:cNvSpPr/>
          <p:nvPr/>
        </p:nvSpPr>
        <p:spPr>
          <a:xfrm>
            <a:off x="8792467" y="552926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91" name="Google Shape;391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6000" y="1742827"/>
            <a:ext cx="10180001" cy="4681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9"/>
          <p:cNvSpPr txBox="1"/>
          <p:nvPr/>
        </p:nvSpPr>
        <p:spPr>
          <a:xfrm>
            <a:off x="581025" y="485775"/>
            <a:ext cx="11581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Extra: Which regions/countries produce the highest-rated content on IMDb?</a:t>
            </a:r>
            <a:endParaRPr/>
          </a:p>
        </p:txBody>
      </p:sp>
      <p:sp>
        <p:nvSpPr>
          <p:cNvPr id="398" name="Google Shape;398;p29"/>
          <p:cNvSpPr/>
          <p:nvPr/>
        </p:nvSpPr>
        <p:spPr>
          <a:xfrm>
            <a:off x="581025" y="293370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9"/>
          <p:cNvSpPr/>
          <p:nvPr/>
        </p:nvSpPr>
        <p:spPr>
          <a:xfrm>
            <a:off x="4228951" y="293370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9"/>
          <p:cNvSpPr/>
          <p:nvPr/>
        </p:nvSpPr>
        <p:spPr>
          <a:xfrm>
            <a:off x="5974258" y="293370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9"/>
          <p:cNvSpPr/>
          <p:nvPr/>
        </p:nvSpPr>
        <p:spPr>
          <a:xfrm>
            <a:off x="8792467" y="293370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581025" y="345281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9"/>
          <p:cNvSpPr/>
          <p:nvPr/>
        </p:nvSpPr>
        <p:spPr>
          <a:xfrm>
            <a:off x="4228951" y="345281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5974258" y="345281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8792467" y="345281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581025" y="3971925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4228951" y="3971925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9"/>
          <p:cNvSpPr/>
          <p:nvPr/>
        </p:nvSpPr>
        <p:spPr>
          <a:xfrm>
            <a:off x="5974258" y="3971925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9"/>
          <p:cNvSpPr/>
          <p:nvPr/>
        </p:nvSpPr>
        <p:spPr>
          <a:xfrm>
            <a:off x="8792467" y="3971925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9"/>
          <p:cNvSpPr/>
          <p:nvPr/>
        </p:nvSpPr>
        <p:spPr>
          <a:xfrm>
            <a:off x="581025" y="4491037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9"/>
          <p:cNvSpPr/>
          <p:nvPr/>
        </p:nvSpPr>
        <p:spPr>
          <a:xfrm>
            <a:off x="4228951" y="4491037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9"/>
          <p:cNvSpPr/>
          <p:nvPr/>
        </p:nvSpPr>
        <p:spPr>
          <a:xfrm>
            <a:off x="5974258" y="4491037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9"/>
          <p:cNvSpPr/>
          <p:nvPr/>
        </p:nvSpPr>
        <p:spPr>
          <a:xfrm>
            <a:off x="8792467" y="4491037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9"/>
          <p:cNvSpPr/>
          <p:nvPr/>
        </p:nvSpPr>
        <p:spPr>
          <a:xfrm>
            <a:off x="581025" y="501015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9"/>
          <p:cNvSpPr/>
          <p:nvPr/>
        </p:nvSpPr>
        <p:spPr>
          <a:xfrm>
            <a:off x="4228951" y="501015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9"/>
          <p:cNvSpPr/>
          <p:nvPr/>
        </p:nvSpPr>
        <p:spPr>
          <a:xfrm>
            <a:off x="5974258" y="501015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9"/>
          <p:cNvSpPr/>
          <p:nvPr/>
        </p:nvSpPr>
        <p:spPr>
          <a:xfrm>
            <a:off x="8792467" y="501015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9"/>
          <p:cNvSpPr/>
          <p:nvPr/>
        </p:nvSpPr>
        <p:spPr>
          <a:xfrm>
            <a:off x="581025" y="552926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9"/>
          <p:cNvSpPr/>
          <p:nvPr/>
        </p:nvSpPr>
        <p:spPr>
          <a:xfrm>
            <a:off x="4228951" y="552926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9"/>
          <p:cNvSpPr/>
          <p:nvPr/>
        </p:nvSpPr>
        <p:spPr>
          <a:xfrm>
            <a:off x="5974258" y="552926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8792467" y="552926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8964" y="1728880"/>
            <a:ext cx="5493476" cy="47454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7" name="Google Shape;42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30"/>
          <p:cNvSpPr txBox="1"/>
          <p:nvPr/>
        </p:nvSpPr>
        <p:spPr>
          <a:xfrm>
            <a:off x="581025" y="485775"/>
            <a:ext cx="11581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50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Extra: Which regions/countries produce the highest-rated content on IMDb?</a:t>
            </a:r>
            <a:endParaRPr/>
          </a:p>
        </p:txBody>
      </p:sp>
      <p:sp>
        <p:nvSpPr>
          <p:cNvPr id="429" name="Google Shape;429;p30"/>
          <p:cNvSpPr/>
          <p:nvPr/>
        </p:nvSpPr>
        <p:spPr>
          <a:xfrm>
            <a:off x="581025" y="293370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0"/>
          <p:cNvSpPr/>
          <p:nvPr/>
        </p:nvSpPr>
        <p:spPr>
          <a:xfrm>
            <a:off x="4228951" y="293370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0"/>
          <p:cNvSpPr/>
          <p:nvPr/>
        </p:nvSpPr>
        <p:spPr>
          <a:xfrm>
            <a:off x="5974258" y="293370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0"/>
          <p:cNvSpPr/>
          <p:nvPr/>
        </p:nvSpPr>
        <p:spPr>
          <a:xfrm>
            <a:off x="8792467" y="293370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0"/>
          <p:cNvSpPr/>
          <p:nvPr/>
        </p:nvSpPr>
        <p:spPr>
          <a:xfrm>
            <a:off x="581025" y="345281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0"/>
          <p:cNvSpPr/>
          <p:nvPr/>
        </p:nvSpPr>
        <p:spPr>
          <a:xfrm>
            <a:off x="4228951" y="345281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5974258" y="345281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0"/>
          <p:cNvSpPr/>
          <p:nvPr/>
        </p:nvSpPr>
        <p:spPr>
          <a:xfrm>
            <a:off x="8792467" y="345281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0"/>
          <p:cNvSpPr/>
          <p:nvPr/>
        </p:nvSpPr>
        <p:spPr>
          <a:xfrm>
            <a:off x="581025" y="3971925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0"/>
          <p:cNvSpPr/>
          <p:nvPr/>
        </p:nvSpPr>
        <p:spPr>
          <a:xfrm>
            <a:off x="4228951" y="3971925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0"/>
          <p:cNvSpPr/>
          <p:nvPr/>
        </p:nvSpPr>
        <p:spPr>
          <a:xfrm>
            <a:off x="5974258" y="3971925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0"/>
          <p:cNvSpPr/>
          <p:nvPr/>
        </p:nvSpPr>
        <p:spPr>
          <a:xfrm>
            <a:off x="8792467" y="3971925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0"/>
          <p:cNvSpPr/>
          <p:nvPr/>
        </p:nvSpPr>
        <p:spPr>
          <a:xfrm>
            <a:off x="581025" y="4491037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0"/>
          <p:cNvSpPr/>
          <p:nvPr/>
        </p:nvSpPr>
        <p:spPr>
          <a:xfrm>
            <a:off x="4228951" y="4491037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0"/>
          <p:cNvSpPr/>
          <p:nvPr/>
        </p:nvSpPr>
        <p:spPr>
          <a:xfrm>
            <a:off x="5974258" y="4491037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0"/>
          <p:cNvSpPr/>
          <p:nvPr/>
        </p:nvSpPr>
        <p:spPr>
          <a:xfrm>
            <a:off x="8792467" y="4491037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0"/>
          <p:cNvSpPr/>
          <p:nvPr/>
        </p:nvSpPr>
        <p:spPr>
          <a:xfrm>
            <a:off x="581025" y="5010150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0"/>
          <p:cNvSpPr/>
          <p:nvPr/>
        </p:nvSpPr>
        <p:spPr>
          <a:xfrm>
            <a:off x="4228951" y="5010150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0"/>
          <p:cNvSpPr/>
          <p:nvPr/>
        </p:nvSpPr>
        <p:spPr>
          <a:xfrm>
            <a:off x="5974258" y="5010150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0"/>
          <p:cNvSpPr/>
          <p:nvPr/>
        </p:nvSpPr>
        <p:spPr>
          <a:xfrm>
            <a:off x="8792467" y="5010150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0"/>
          <p:cNvSpPr/>
          <p:nvPr/>
        </p:nvSpPr>
        <p:spPr>
          <a:xfrm>
            <a:off x="581025" y="5529262"/>
            <a:ext cx="36480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0"/>
          <p:cNvSpPr/>
          <p:nvPr/>
        </p:nvSpPr>
        <p:spPr>
          <a:xfrm>
            <a:off x="4228951" y="5529262"/>
            <a:ext cx="17454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5974258" y="5529262"/>
            <a:ext cx="28182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0"/>
          <p:cNvSpPr/>
          <p:nvPr/>
        </p:nvSpPr>
        <p:spPr>
          <a:xfrm>
            <a:off x="8792467" y="5529262"/>
            <a:ext cx="2818500" cy="96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3" name="Google Shape;45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19125" y="1724025"/>
            <a:ext cx="1075372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8" name="Google Shape;45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1"/>
          <p:cNvSpPr txBox="1"/>
          <p:nvPr/>
        </p:nvSpPr>
        <p:spPr>
          <a:xfrm>
            <a:off x="305326" y="2995650"/>
            <a:ext cx="11581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1"/>
          <p:cNvSpPr txBox="1"/>
          <p:nvPr/>
        </p:nvSpPr>
        <p:spPr>
          <a:xfrm>
            <a:off x="2286000" y="2295525"/>
            <a:ext cx="762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1"/>
          <p:cNvSpPr txBox="1"/>
          <p:nvPr/>
        </p:nvSpPr>
        <p:spPr>
          <a:xfrm>
            <a:off x="581025" y="2943225"/>
            <a:ext cx="110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2" name="Google Shape;462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72290" y="5706549"/>
            <a:ext cx="10047584" cy="68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16706" y="4829447"/>
            <a:ext cx="8358606" cy="687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1" title="images (1).jp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52848" y="467225"/>
            <a:ext cx="3129450" cy="417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31" title="61-vQDr7ecL._AC_UF894,1000_QL80_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636300" y="410688"/>
            <a:ext cx="2935699" cy="4285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70" name="Google Shape;47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32"/>
          <p:cNvSpPr txBox="1"/>
          <p:nvPr/>
        </p:nvSpPr>
        <p:spPr>
          <a:xfrm>
            <a:off x="305326" y="2995650"/>
            <a:ext cx="115815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Thank You!</a:t>
            </a:r>
            <a:endParaRPr/>
          </a:p>
        </p:txBody>
      </p:sp>
      <p:sp>
        <p:nvSpPr>
          <p:cNvPr id="472" name="Google Shape;472;p32"/>
          <p:cNvSpPr txBox="1"/>
          <p:nvPr/>
        </p:nvSpPr>
        <p:spPr>
          <a:xfrm>
            <a:off x="2286000" y="2295525"/>
            <a:ext cx="7620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2"/>
          <p:cNvSpPr txBox="1"/>
          <p:nvPr/>
        </p:nvSpPr>
        <p:spPr>
          <a:xfrm>
            <a:off x="581025" y="2943225"/>
            <a:ext cx="1103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